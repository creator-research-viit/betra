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13" autoAdjust="0"/>
    <p:restoredTop sz="94660"/>
  </p:normalViewPr>
  <p:slideViewPr>
    <p:cSldViewPr snapToGrid="0" snapToObjects="1">
      <p:cViewPr>
        <p:scale>
          <a:sx n="70" d="100"/>
          <a:sy n="70" d="100"/>
        </p:scale>
        <p:origin x="3330" y="8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be-tra.i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e-tra.in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e-tra.in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e-tra.i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e-tra.in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e-tra.in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e-tra.in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e-tra.in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e-tra.in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e-tra.in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e-tra.in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be-tra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e-tra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Employment Opportunities in Banking, Finance &amp; Insurance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Career Opportunities, Qualifications &amp; Future Scope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5DFB5F-4605-6185-D7CE-5BAAF14A8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459"/>
            <a:ext cx="1985211" cy="6909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BEA310-97DA-EA55-7643-8E2D72C2E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C38687-446A-75B6-352D-DAC9981E72B8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Sector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Sector Banks</a:t>
            </a:r>
          </a:p>
          <a:p>
            <a:r>
              <a:t>Private Sector Banks</a:t>
            </a:r>
          </a:p>
          <a:p>
            <a:r>
              <a:t>Regional Rural Banks</a:t>
            </a:r>
          </a:p>
          <a:p>
            <a:r>
              <a:t>Cooperative Banks</a:t>
            </a:r>
          </a:p>
          <a:p>
            <a:r>
              <a:t>Small Finance Banks &amp; Payments Banks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5303520"/>
            <a:ext cx="9144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BFSI Sector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0025E-8059-FAAF-AFA3-7828C810A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459"/>
            <a:ext cx="1985211" cy="69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CA5A2E-BE94-8D5B-961C-B964F4308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77B921-5AC9-F12D-4990-D285F8C5BBB0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Banking Careers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Clerk &amp; Customer Service Associate</a:t>
            </a:r>
          </a:p>
          <a:p>
            <a:r>
              <a:t>Probationary Officer (PO)</a:t>
            </a:r>
          </a:p>
          <a:p>
            <a:r>
              <a:t>Branch Manager</a:t>
            </a:r>
          </a:p>
          <a:p>
            <a:r>
              <a:t>Credit Officer</a:t>
            </a:r>
          </a:p>
          <a:p>
            <a:r>
              <a:t>Risk &amp; Compliance Officer</a:t>
            </a:r>
          </a:p>
          <a:p>
            <a:r>
              <a:t>IT &amp; Cyber Security Specialist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5303520"/>
            <a:ext cx="9144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BFSI Sector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C8FEA0-AEBC-7BAE-04B6-64CF20EBA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27"/>
            <a:ext cx="1985211" cy="69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72DCE2-F49D-0BEF-1B89-DB0240073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3A70D2-0FBF-B090-8FF9-7ADB0B9DA973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7885"/>
            <a:ext cx="8229600" cy="1143000"/>
          </a:xfrm>
        </p:spPr>
        <p:txBody>
          <a:bodyPr/>
          <a:lstStyle/>
          <a:p>
            <a:r>
              <a:rPr dirty="0"/>
              <a:t>Employment in Finance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Analyst</a:t>
            </a:r>
          </a:p>
          <a:p>
            <a:r>
              <a:t>Investment Banker</a:t>
            </a:r>
          </a:p>
          <a:p>
            <a:r>
              <a:t>Mutual Fund Advisor</a:t>
            </a:r>
          </a:p>
          <a:p>
            <a:r>
              <a:t>Wealth Manager</a:t>
            </a:r>
          </a:p>
          <a:p>
            <a:r>
              <a:t>Tax Consultant</a:t>
            </a:r>
          </a:p>
          <a:p>
            <a:r>
              <a:t>FinTech Professional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5303520"/>
            <a:ext cx="9144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BFSI Sector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DB518-D9DB-67DC-0048-179A2CE78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27"/>
            <a:ext cx="1985211" cy="69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ED9453-3319-3DFF-C2C9-8FB51A63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11B620-BCAF-8713-16A3-EE38EF1160E1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FinTech &amp; Digital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UPI and digital payment ecosystem</a:t>
            </a:r>
          </a:p>
          <a:p>
            <a:r>
              <a:t>AI-based lending platforms</a:t>
            </a:r>
          </a:p>
          <a:p>
            <a:r>
              <a:t>Digital banking and analytics</a:t>
            </a:r>
          </a:p>
          <a:p>
            <a:r>
              <a:t>Cyber security opportunities</a:t>
            </a:r>
          </a:p>
          <a:p>
            <a:r>
              <a:t>Rapid growth of financial technology companies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5303520"/>
            <a:ext cx="9144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BFSI Sector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7B4E86-C662-FF97-D2E3-EDD6CF935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27"/>
            <a:ext cx="1985211" cy="69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7AC568-1808-DFBF-0840-D7D637547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9F74EA-FC88-3044-13E3-1E027FD653BC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7885"/>
            <a:ext cx="8229600" cy="1143000"/>
          </a:xfrm>
        </p:spPr>
        <p:txBody>
          <a:bodyPr/>
          <a:lstStyle/>
          <a:p>
            <a:r>
              <a:rPr dirty="0"/>
              <a:t>Insurance Sector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Insurance Advisor</a:t>
            </a:r>
          </a:p>
          <a:p>
            <a:r>
              <a:t>Development Officer</a:t>
            </a:r>
          </a:p>
          <a:p>
            <a:r>
              <a:t>Claims Officer</a:t>
            </a:r>
          </a:p>
          <a:p>
            <a:r>
              <a:t>Underwriter</a:t>
            </a:r>
          </a:p>
          <a:p>
            <a:r>
              <a:t>Actuary</a:t>
            </a:r>
          </a:p>
          <a:p>
            <a:r>
              <a:t>Risk Manager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5303520"/>
            <a:ext cx="9144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BFSI Sector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C662B-44A6-97E6-C773-BE1ECF69F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27"/>
            <a:ext cx="1985211" cy="69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4F9B9E-D0F3-CB6B-6735-D6BCD203A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44CB66-5D9F-A625-2620-198C862EAF25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722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Government &amp; Regulatory Institutions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Reserve Bank of India (RBI)</a:t>
            </a:r>
          </a:p>
          <a:p>
            <a:r>
              <a:t>SEBI</a:t>
            </a:r>
          </a:p>
          <a:p>
            <a:r>
              <a:t>NABARD</a:t>
            </a:r>
          </a:p>
          <a:p>
            <a:r>
              <a:t>IRDAI</a:t>
            </a:r>
          </a:p>
          <a:p>
            <a:r>
              <a:t>SIDBI</a:t>
            </a:r>
          </a:p>
          <a:p>
            <a:r>
              <a:t>National Housing Bank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5303520"/>
            <a:ext cx="9144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BFSI Sector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F58B6D-B091-6DA2-6AE1-732A0D64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27"/>
            <a:ext cx="1985211" cy="69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85779A-F568-116E-0CD1-FA8B616A6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0926B8-2D88-100D-C743-3EE87FE353BD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dirty="0"/>
              <a:t>Educational Qualifications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B.Com, BBA, BA Economics</a:t>
            </a:r>
          </a:p>
          <a:p>
            <a:r>
              <a:t>MBA Finance</a:t>
            </a:r>
          </a:p>
          <a:p>
            <a:r>
              <a:t>CA, CMA, CFA</a:t>
            </a:r>
          </a:p>
          <a:p>
            <a:r>
              <a:t>Computer Science &amp; Data Analytics</a:t>
            </a:r>
          </a:p>
          <a:p>
            <a:r>
              <a:t>Law &amp; Agriculture backgrounds also eligible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5303520"/>
            <a:ext cx="9144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BFSI Sector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4BF88-C7D5-8E99-4123-65E8C2C7B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27"/>
            <a:ext cx="1985211" cy="69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3569DA-D496-8BFA-E7C3-EA1DD98A8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72EFF0-F00E-C864-5454-7C96AF832CAF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7885"/>
            <a:ext cx="8229600" cy="1143000"/>
          </a:xfrm>
        </p:spPr>
        <p:txBody>
          <a:bodyPr/>
          <a:lstStyle/>
          <a:p>
            <a:r>
              <a:rPr dirty="0"/>
              <a:t>Important Competitive Exams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IBPS PO/Clerk</a:t>
            </a:r>
          </a:p>
          <a:p>
            <a:r>
              <a:t>SBI PO/Clerk</a:t>
            </a:r>
          </a:p>
          <a:p>
            <a:r>
              <a:t>RBI Grade B</a:t>
            </a:r>
          </a:p>
          <a:p>
            <a:r>
              <a:t>NABARD Grade A/B</a:t>
            </a:r>
          </a:p>
          <a:p>
            <a:r>
              <a:t>LIC AAO &amp; ADO</a:t>
            </a:r>
          </a:p>
          <a:p>
            <a:r>
              <a:t>NISM Certifications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5303520"/>
            <a:ext cx="9144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BFSI Sector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1052FB-6A9D-F4A9-526F-5BB2DA9F7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27"/>
            <a:ext cx="1985211" cy="69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F54373-9D70-6C60-FE67-7F8BB8CBD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93C32D-B8D8-0482-8651-24AE7CF19C65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skills</a:t>
            </a:r>
          </a:p>
          <a:p>
            <a:r>
              <a:t>Computer literacy</a:t>
            </a:r>
          </a:p>
          <a:p>
            <a:r>
              <a:t>Analytical ability</a:t>
            </a:r>
          </a:p>
          <a:p>
            <a:r>
              <a:t>Customer service</a:t>
            </a:r>
          </a:p>
          <a:p>
            <a:r>
              <a:t>Financial knowledge</a:t>
            </a:r>
          </a:p>
          <a:p>
            <a:r>
              <a:t>Digital banking awareness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5303520"/>
            <a:ext cx="9144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BFSI Sector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EDB9C1-8C18-DC7A-9A57-4A5AE485A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27"/>
            <a:ext cx="1985211" cy="69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483084-8F1A-786A-D9A3-4259FB87F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42D977-E55A-029E-2F3A-554DB930DFD6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5823"/>
            <a:ext cx="8229600" cy="1143000"/>
          </a:xfrm>
        </p:spPr>
        <p:txBody>
          <a:bodyPr/>
          <a:lstStyle/>
          <a:p>
            <a:r>
              <a:rPr dirty="0"/>
              <a:t>Future Scope of BFSI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Banking</a:t>
            </a:r>
          </a:p>
          <a:p>
            <a:r>
              <a:t>Artificial Intelligence</a:t>
            </a:r>
          </a:p>
          <a:p>
            <a:r>
              <a:t>Climate Finance</a:t>
            </a:r>
          </a:p>
          <a:p>
            <a:r>
              <a:t>Cyber Security</a:t>
            </a:r>
          </a:p>
          <a:p>
            <a:r>
              <a:t>Financial Inclusion</a:t>
            </a:r>
          </a:p>
          <a:p>
            <a:r>
              <a:t>Green Finance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5303520"/>
            <a:ext cx="9144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BFSI Sector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CFA50-A5BD-AB3C-5E20-1FD439FC9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27"/>
            <a:ext cx="1985211" cy="69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1068CA-0DAB-22A9-BDAE-ADB707960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142B71-55F6-F43D-1473-F74FB3BAB5AB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BFSI sector is one of India’s largest employment generators</a:t>
            </a:r>
          </a:p>
          <a:p>
            <a:r>
              <a:t>Opportunities available in urban and rural India</a:t>
            </a:r>
          </a:p>
          <a:p>
            <a:r>
              <a:t>Strong future due to digital and economic expansion</a:t>
            </a:r>
          </a:p>
          <a:p>
            <a:r>
              <a:t>Need for skilled and trained professionals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5303520"/>
            <a:ext cx="9144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BFSI Sector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96CF11-7E72-6D6B-4E2C-EC1058E8D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27"/>
            <a:ext cx="1985211" cy="690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62BE10-AAFE-9423-D995-0F37BF1E9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31" y="162427"/>
            <a:ext cx="1985211" cy="6909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04D04D-03FC-987E-2545-446C58C5A689}"/>
              </a:ext>
            </a:extLst>
          </p:cNvPr>
          <p:cNvSpPr txBox="1"/>
          <p:nvPr/>
        </p:nvSpPr>
        <p:spPr>
          <a:xfrm>
            <a:off x="358775" y="5734810"/>
            <a:ext cx="8426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Address:- Plot no.1, </a:t>
            </a:r>
            <a:r>
              <a:rPr lang="en-US" b="1" dirty="0" err="1"/>
              <a:t>Satyamnagar</a:t>
            </a:r>
            <a:r>
              <a:rPr lang="en-US" b="1" dirty="0"/>
              <a:t>, </a:t>
            </a:r>
            <a:r>
              <a:rPr lang="en-US" b="1" dirty="0" err="1"/>
              <a:t>Cidco</a:t>
            </a:r>
            <a:r>
              <a:rPr lang="en-US" b="1" dirty="0"/>
              <a:t> N5, </a:t>
            </a:r>
            <a:r>
              <a:rPr lang="en-US" b="1" dirty="0" err="1"/>
              <a:t>Chh.Sambhajinagar</a:t>
            </a:r>
            <a:r>
              <a:rPr lang="en-US" b="1" dirty="0"/>
              <a:t>, 431001.</a:t>
            </a:r>
          </a:p>
          <a:p>
            <a:pPr algn="ctr"/>
            <a:r>
              <a:rPr lang="en-US" b="1" dirty="0"/>
              <a:t>Email ID:- </a:t>
            </a:r>
            <a:r>
              <a:rPr lang="en-US" b="1" dirty="0">
                <a:hlinkClick r:id="rId3"/>
              </a:rPr>
              <a:t>info@be-tra.in</a:t>
            </a:r>
            <a:endParaRPr lang="en-US" b="1" dirty="0"/>
          </a:p>
          <a:p>
            <a:pPr algn="ctr"/>
            <a:r>
              <a:rPr lang="en-US" b="1" dirty="0"/>
              <a:t>Website:- </a:t>
            </a:r>
            <a:r>
              <a:rPr lang="en-US" b="1" dirty="0">
                <a:hlinkClick r:id="rId4"/>
              </a:rPr>
              <a:t>www.be-tra.in</a:t>
            </a: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671</Words>
  <Application>Microsoft Office PowerPoint</Application>
  <PresentationFormat>On-screen Show (4:3)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Employment Opportunities in Banking, Finance &amp; Insurance in India</vt:lpstr>
      <vt:lpstr>Banking Sector in India</vt:lpstr>
      <vt:lpstr>Major Banking Careers</vt:lpstr>
      <vt:lpstr>Employment in Finance Sector</vt:lpstr>
      <vt:lpstr>FinTech &amp; Digital Finance</vt:lpstr>
      <vt:lpstr>Insurance Sector Opportunities</vt:lpstr>
      <vt:lpstr>Government &amp; Regulatory Institutions</vt:lpstr>
      <vt:lpstr>Educational Qualifications</vt:lpstr>
      <vt:lpstr>Important Competitive Exams</vt:lpstr>
      <vt:lpstr>Skills Required</vt:lpstr>
      <vt:lpstr>Future Scope of BFSI Sector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aibea Aurangabad 2</cp:lastModifiedBy>
  <cp:revision>2</cp:revision>
  <dcterms:created xsi:type="dcterms:W3CDTF">2013-01-27T09:14:16Z</dcterms:created>
  <dcterms:modified xsi:type="dcterms:W3CDTF">2026-05-14T11:15:41Z</dcterms:modified>
  <cp:category/>
</cp:coreProperties>
</file>